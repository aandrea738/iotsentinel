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66"/>
  </p:normalViewPr>
  <p:slideViewPr>
    <p:cSldViewPr snapToGrid="0">
      <p:cViewPr varScale="1">
        <p:scale>
          <a:sx n="125" d="100"/>
          <a:sy n="125" d="100"/>
        </p:scale>
        <p:origin x="16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254C25-913B-8045-9290-4578C1384BC4}" type="datetimeFigureOut">
              <a:rPr lang="it-IT" smtClean="0"/>
              <a:t>25/02/26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C85884-0C3A-C243-BD02-74D24A3DEFD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1226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85884-0C3A-C243-BD02-74D24A3DEFD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4293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B98EB-7903-5167-9B4A-215DD7023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81007DF-782D-A270-955B-F560A990E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838CDD4-7DDA-5CDE-BC9B-5D5FE823F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DEB2-299B-1F4F-A7BC-B0ECA7EF6D8C}" type="datetimeFigureOut">
              <a:rPr lang="it-IT" smtClean="0"/>
              <a:t>25/02/26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51B72DB-031B-9F4C-9AC9-90810C0EE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6D6E56B-AEDE-2ADD-4A39-9DE20AB95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936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5FA55F-5871-DAB8-FB79-AB7C929D5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9BF24A-1DC6-B47C-6BEC-CF6C31EF3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40A7D0A-5206-4651-E2A2-56748176C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DEB2-299B-1F4F-A7BC-B0ECA7EF6D8C}" type="datetimeFigureOut">
              <a:rPr lang="it-IT" smtClean="0"/>
              <a:t>25/02/26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EFBBA2E-73D8-DA24-2671-C1F92A389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7D8C922-8515-8E26-3759-97DA4CAE3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1845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8DE4FA-AD8C-ECD0-05F0-5528CFB2C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F06813F-2499-F04D-1321-8DBE07CDB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2F9D2B-9142-AFB2-41FA-B5AC16B4B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DEB2-299B-1F4F-A7BC-B0ECA7EF6D8C}" type="datetimeFigureOut">
              <a:rPr lang="it-IT" smtClean="0"/>
              <a:t>25/02/26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F151AFE-DE20-D292-9BEF-D06A10FC2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8C7DB28-9882-6A82-E142-31EA8F7E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1284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29FECC-E78C-0515-8966-B2E7505C0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A428A39-A0F6-8EBD-C017-4F3F20467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8BFC7B6-6D90-E2AC-FDC7-9108BC238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237FAA8-8A05-0AF2-648E-380157620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DEB2-299B-1F4F-A7BC-B0ECA7EF6D8C}" type="datetimeFigureOut">
              <a:rPr lang="it-IT" smtClean="0"/>
              <a:t>25/02/26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4311F3C-72FC-C85D-39A2-8B96E44F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05DFAA0-56B7-A2C9-46A6-E9ACDA7F3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7412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33FF39-A616-57F6-FDCF-ADCE06857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AF18CA6-19DA-9887-E14E-442C158C0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C9E45C0-1C4B-0808-99CE-2FB11AECD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274B71B-4D75-83AD-F0B5-53A5F2D060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265D8B3-DF65-5D9A-BF84-FDE2B0DC2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128E41C-8286-58C2-B99D-C735CC2EF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DEB2-299B-1F4F-A7BC-B0ECA7EF6D8C}" type="datetimeFigureOut">
              <a:rPr lang="it-IT" smtClean="0"/>
              <a:t>25/02/26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39DAB08-595B-79CE-0E7A-E10CDB407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C8BFB90-1C27-760C-DF9F-A977A4678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6197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5DF07A-CBEA-D17C-0C34-7EA661594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9FC7505-37B2-9C9F-5909-C3534478C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DEB2-299B-1F4F-A7BC-B0ECA7EF6D8C}" type="datetimeFigureOut">
              <a:rPr lang="it-IT" smtClean="0"/>
              <a:t>25/02/26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6F41944-9CE4-F7B9-9DE8-B503D7307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1398E56-C68B-AE33-55C9-7D6FD402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338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E2F9A4B-DDB2-0FD1-3F77-2A5A6D76B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DEB2-299B-1F4F-A7BC-B0ECA7EF6D8C}" type="datetimeFigureOut">
              <a:rPr lang="it-IT" smtClean="0"/>
              <a:t>25/02/26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87B1CF7-E38F-1558-4BA2-747F3F2BE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83A2BAE-76C9-C11F-C934-682602C27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685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4764AC-A198-8C48-D3D6-4CE9904AC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B82BFC0-E3FA-44CB-8C9D-21FEFE948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14958F9-9D8E-130B-4C5B-07537812C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6661852-EEED-7F10-68B7-4CA264664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DEB2-299B-1F4F-A7BC-B0ECA7EF6D8C}" type="datetimeFigureOut">
              <a:rPr lang="it-IT" smtClean="0"/>
              <a:t>25/02/26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5CDDBA6-E733-BFBC-572D-76B33AAAD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B4EA499-1574-FECD-E2EA-85EFEC8A8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6668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557E32-635C-C496-A495-3D0BD8F18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98F2862-04A5-3F62-549D-E89B884B3C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691C590-377F-DF7B-03BE-7305C64F6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5C683FF-F903-498E-EC5F-3A7EB1E55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DEB2-299B-1F4F-A7BC-B0ECA7EF6D8C}" type="datetimeFigureOut">
              <a:rPr lang="it-IT" smtClean="0"/>
              <a:t>25/02/26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5F14614-580F-EA45-BC28-80BCC3D64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0150DB4-FF9A-4C13-D072-293047D8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360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BA036D-BA73-1D57-241F-C083CB352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2AF215D-083F-1CAC-51E5-4D716FBA6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993E4B7-FD37-07ED-7A7A-BB98976F3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DEB2-299B-1F4F-A7BC-B0ECA7EF6D8C}" type="datetimeFigureOut">
              <a:rPr lang="it-IT" smtClean="0"/>
              <a:t>25/02/26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D655112-A046-9613-CB9F-34D70811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DC78D31-5F64-8170-86B6-F10851568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658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66504F3-2A5E-0B37-3234-87C7702DD0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A941BD0-2F31-8F0A-3DBC-D8AC172A73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BF56C2C-6252-7A97-A385-DFE412CE4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DEB2-299B-1F4F-A7BC-B0ECA7EF6D8C}" type="datetimeFigureOut">
              <a:rPr lang="it-IT" smtClean="0"/>
              <a:t>25/02/26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85419A5-C3D5-95C5-7D6D-D030855F1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A605F45-1205-8C39-48C3-A3F4C199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3705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FEA73BD-35BC-B229-414E-0093928FD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D15534E-AF6D-7B7C-BA72-DD25E3A8E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EB27E4-C04E-E103-4041-4C40D22B4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F3DEB2-299B-1F4F-A7BC-B0ECA7EF6D8C}" type="datetimeFigureOut">
              <a:rPr lang="it-IT" smtClean="0"/>
              <a:t>25/02/26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024A18-2D6E-E72E-83F3-B88B57125C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6B01F79-E980-CD03-2B42-E55469FC4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673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74BB3D-6B27-CD62-FF6F-B844B98748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IoT </a:t>
            </a:r>
            <a:r>
              <a:rPr lang="it-IT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Sentinel</a:t>
            </a:r>
            <a:endParaRPr lang="it-IT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B739B08-59A2-AF83-EA25-979B7BCD0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34027"/>
          </a:xfrm>
        </p:spPr>
        <p:txBody>
          <a:bodyPr/>
          <a:lstStyle/>
          <a:p>
            <a:r>
              <a:rPr lang="it-IT" dirty="0">
                <a:solidFill>
                  <a:srgbClr val="EA7131"/>
                </a:solidFill>
                <a:effectLst/>
              </a:rPr>
              <a:t>Metodologia di Sviluppo:</a:t>
            </a:r>
            <a:r>
              <a:rPr lang="it-IT" b="1" dirty="0">
                <a:solidFill>
                  <a:srgbClr val="EA7131"/>
                </a:solidFill>
                <a:effectLst/>
              </a:rPr>
              <a:t> Agile </a:t>
            </a:r>
            <a:r>
              <a:rPr lang="it-IT" b="1" dirty="0" err="1">
                <a:solidFill>
                  <a:srgbClr val="EA7131"/>
                </a:solidFill>
                <a:effectLst/>
              </a:rPr>
              <a:t>Unified</a:t>
            </a:r>
            <a:r>
              <a:rPr lang="it-IT" b="1" dirty="0">
                <a:solidFill>
                  <a:srgbClr val="EA7131"/>
                </a:solidFill>
                <a:effectLst/>
              </a:rPr>
              <a:t> </a:t>
            </a:r>
            <a:r>
              <a:rPr lang="it-IT" b="1" dirty="0" err="1">
                <a:solidFill>
                  <a:srgbClr val="EA7131"/>
                </a:solidFill>
                <a:effectLst/>
              </a:rPr>
              <a:t>Process</a:t>
            </a:r>
            <a:r>
              <a:rPr lang="it-IT" b="1" dirty="0">
                <a:solidFill>
                  <a:srgbClr val="EA7131"/>
                </a:solidFill>
                <a:effectLst/>
              </a:rPr>
              <a:t> (AUP)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EDEB7DF-81BB-7E5C-9461-B5101FD11D3F}"/>
              </a:ext>
            </a:extLst>
          </p:cNvPr>
          <p:cNvSpPr txBox="1"/>
          <p:nvPr/>
        </p:nvSpPr>
        <p:spPr>
          <a:xfrm>
            <a:off x="8466719" y="4876800"/>
            <a:ext cx="36962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it-IT" sz="2400" dirty="0"/>
              <a:t>Studente: </a:t>
            </a:r>
            <a:r>
              <a:rPr lang="it-IT" sz="2400" b="1" dirty="0"/>
              <a:t>Accetta Andrea</a:t>
            </a:r>
          </a:p>
          <a:p>
            <a:pPr algn="just"/>
            <a:r>
              <a:rPr lang="it-IT" sz="2400" dirty="0"/>
              <a:t>Matricola: </a:t>
            </a:r>
            <a:r>
              <a:rPr lang="it-IT" sz="2400" b="1" dirty="0"/>
              <a:t>71515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059608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 descr="Immagine che contiene testo, schermata, Carattere, cerchio&#10;&#10;Il contenuto generato dall'IA potrebbe non essere corretto.">
            <a:extLst>
              <a:ext uri="{FF2B5EF4-FFF2-40B4-BE49-F238E27FC236}">
                <a16:creationId xmlns:a16="http://schemas.microsoft.com/office/drawing/2014/main" id="{671D4BF6-84DC-A48F-8E63-5DD13B4516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3088" t="2" r="3088" b="-2"/>
          <a:stretch>
            <a:fillRect/>
          </a:stretch>
        </p:blipFill>
        <p:spPr>
          <a:xfrm>
            <a:off x="4032000" y="1389888"/>
            <a:ext cx="8076168" cy="4763788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0C62C69C-1701-9D32-5D40-C5B40B795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it-IT" sz="5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La sfida progettuale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5C7C444-6F13-B6D2-27AE-9A405A59B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23" y="3211963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200" dirty="0"/>
              <a:t>I requisiti di gestione e di controllo di infrastruttura critiche pone delle sfide progettuali serie per azzerare le possibilità di fallimento.</a:t>
            </a:r>
          </a:p>
        </p:txBody>
      </p:sp>
    </p:spTree>
    <p:extLst>
      <p:ext uri="{BB962C8B-B14F-4D97-AF65-F5344CB8AC3E}">
        <p14:creationId xmlns:p14="http://schemas.microsoft.com/office/powerpoint/2010/main" val="1122897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B488D8-6126-2368-5EB4-9E26938EF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Complessità Tecnica e Rischi</a:t>
            </a:r>
            <a:endParaRPr lang="it-IT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479BC7-1CFF-F5C1-47CD-6516BDECE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2200" dirty="0">
                <a:effectLst/>
              </a:rPr>
              <a:t>Ci sono una serie di fattori che introducono un alto rischio architetturale che richiede una gestione strutturata:</a:t>
            </a:r>
            <a:endParaRPr lang="it-IT" sz="2200" b="1" dirty="0">
              <a:solidFill>
                <a:srgbClr val="EA7131"/>
              </a:solidFill>
            </a:endParaRPr>
          </a:p>
          <a:p>
            <a:r>
              <a:rPr lang="it-IT" sz="2200" b="1" dirty="0">
                <a:solidFill>
                  <a:srgbClr val="EA7131"/>
                </a:solidFill>
              </a:rPr>
              <a:t>Concorrenza e carico</a:t>
            </a:r>
            <a:r>
              <a:rPr lang="it-IT" sz="2200" b="1" dirty="0"/>
              <a:t>: </a:t>
            </a:r>
            <a:r>
              <a:rPr lang="it-IT" sz="2200" dirty="0"/>
              <a:t>I sensori sono asincroni. Il sistema deve gestire migliaia di misurazioni al secondo senza bloccare l'interfaccia utente.</a:t>
            </a:r>
          </a:p>
          <a:p>
            <a:r>
              <a:rPr lang="it-IT" sz="2200" b="1" dirty="0">
                <a:solidFill>
                  <a:srgbClr val="EA7131"/>
                </a:solidFill>
              </a:rPr>
              <a:t>Logica Evoluta:</a:t>
            </a:r>
            <a:r>
              <a:rPr lang="it-IT" sz="2200" dirty="0"/>
              <a:t> Necessità di "Smart </a:t>
            </a:r>
            <a:r>
              <a:rPr lang="it-IT" sz="2200" dirty="0" err="1"/>
              <a:t>Alerting</a:t>
            </a:r>
            <a:r>
              <a:rPr lang="it-IT" sz="2200" dirty="0"/>
              <a:t>" per evitare l'assuefazione agli allarmi (correlazione dati + analisi temporale).</a:t>
            </a:r>
          </a:p>
          <a:p>
            <a:r>
              <a:rPr lang="it-IT" sz="2200" b="1" dirty="0">
                <a:solidFill>
                  <a:srgbClr val="EA7131"/>
                </a:solidFill>
              </a:rPr>
              <a:t>Dinamicità</a:t>
            </a:r>
            <a:r>
              <a:rPr lang="it-IT" sz="2200" b="1" dirty="0"/>
              <a:t>:</a:t>
            </a:r>
            <a:r>
              <a:rPr lang="it-IT" sz="2200" dirty="0"/>
              <a:t> Richiesta di "Riconfigurabilità a Caldo" (aggiunta sensori/regole senza spegnere il sistema).</a:t>
            </a:r>
          </a:p>
        </p:txBody>
      </p:sp>
    </p:spTree>
    <p:extLst>
      <p:ext uri="{BB962C8B-B14F-4D97-AF65-F5344CB8AC3E}">
        <p14:creationId xmlns:p14="http://schemas.microsoft.com/office/powerpoint/2010/main" val="131663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68C4B4D-3B82-5164-357A-7AE3E7882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it-IT" sz="5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Agile </a:t>
            </a:r>
            <a:r>
              <a:rPr lang="it-IT" sz="54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Unified</a:t>
            </a:r>
            <a:r>
              <a:rPr lang="it-IT" sz="5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it-IT" sz="54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Process</a:t>
            </a:r>
            <a:r>
              <a:rPr lang="it-IT" sz="5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: AUP</a:t>
            </a:r>
            <a:endParaRPr lang="it-IT" sz="5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Immagine 4" descr="Immagine che contiene testo, diagramm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C5054B73-1E09-E03B-042B-EF472B011C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11" t="1" r="3707" b="-324"/>
          <a:stretch>
            <a:fillRect/>
          </a:stretch>
        </p:blipFill>
        <p:spPr>
          <a:xfrm>
            <a:off x="4754880" y="712899"/>
            <a:ext cx="7344000" cy="432000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719E0C-4D41-323E-5685-C62051F89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5455920" cy="37639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/>
              <a:t>La filosofia di AUP è "</a:t>
            </a:r>
            <a:r>
              <a:rPr lang="it-IT" sz="2400" b="1" dirty="0"/>
              <a:t>Viaggiare Leggeri»</a:t>
            </a:r>
            <a:r>
              <a:rPr lang="it-IT" sz="2400" dirty="0"/>
              <a:t>, usare la disciplina solo dove serve per gestire il rischio, mantenendo flessibilità nell'esecuzione, a metà tra:</a:t>
            </a:r>
          </a:p>
          <a:p>
            <a:r>
              <a:rPr lang="it-IT" sz="2400" b="1" dirty="0" err="1">
                <a:solidFill>
                  <a:srgbClr val="EA7131"/>
                </a:solidFill>
              </a:rPr>
              <a:t>Unified</a:t>
            </a:r>
            <a:r>
              <a:rPr lang="it-IT" sz="2400" b="1" dirty="0">
                <a:solidFill>
                  <a:srgbClr val="EA7131"/>
                </a:solidFill>
              </a:rPr>
              <a:t> </a:t>
            </a:r>
            <a:r>
              <a:rPr lang="it-IT" sz="2400" b="1" dirty="0" err="1">
                <a:solidFill>
                  <a:srgbClr val="EA7131"/>
                </a:solidFill>
              </a:rPr>
              <a:t>Process</a:t>
            </a:r>
            <a:r>
              <a:rPr lang="it-IT" sz="2400" b="1" dirty="0">
                <a:solidFill>
                  <a:srgbClr val="EA7131"/>
                </a:solidFill>
              </a:rPr>
              <a:t> (UP):</a:t>
            </a:r>
            <a:r>
              <a:rPr lang="it-IT" sz="2400" dirty="0">
                <a:solidFill>
                  <a:srgbClr val="EA7131"/>
                </a:solidFill>
              </a:rPr>
              <a:t> </a:t>
            </a:r>
            <a:r>
              <a:rPr lang="it-IT" sz="2400" dirty="0"/>
              <a:t>Fornisce la struttura, le fasi e l'importanza dell'architettura.</a:t>
            </a:r>
          </a:p>
          <a:p>
            <a:r>
              <a:rPr lang="it-IT" sz="2400" b="1" dirty="0" err="1">
                <a:solidFill>
                  <a:srgbClr val="EA7131"/>
                </a:solidFill>
              </a:rPr>
              <a:t>eXtreme</a:t>
            </a:r>
            <a:r>
              <a:rPr lang="it-IT" sz="2400" b="1" dirty="0">
                <a:solidFill>
                  <a:srgbClr val="EA7131"/>
                </a:solidFill>
              </a:rPr>
              <a:t> Programming (XP):</a:t>
            </a:r>
            <a:r>
              <a:rPr lang="it-IT" sz="2400" dirty="0">
                <a:solidFill>
                  <a:srgbClr val="EA7131"/>
                </a:solidFill>
              </a:rPr>
              <a:t> </a:t>
            </a:r>
            <a:r>
              <a:rPr lang="it-IT" sz="2400" dirty="0"/>
              <a:t>Fornisce l'agilità, il focus sul codice di qualità e l'adattabilità al cambiamento.</a:t>
            </a:r>
          </a:p>
          <a:p>
            <a:pPr marL="0" indent="0">
              <a:buNone/>
            </a:pP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517237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0D70BC-1E5E-B039-D313-B8A6170E4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AUP: Modellazione UML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B6D077-A9A7-CD8D-8C16-635192E81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400" dirty="0"/>
              <a:t>L’AUP include fasi che portano alla convalida dell’architettura, gestendo i rischi tecnici e la logica complessa. A differenza di XP (che spesso li evita), AUP riconosce il valore dei diagrammi per </a:t>
            </a:r>
            <a:r>
              <a:rPr lang="it-IT" sz="2400" b="1" dirty="0"/>
              <a:t>"ragionare"</a:t>
            </a:r>
            <a:r>
              <a:rPr lang="it-IT" sz="2400" dirty="0"/>
              <a:t> su problemi complessi prima di codificare.</a:t>
            </a:r>
          </a:p>
          <a:p>
            <a:r>
              <a:rPr lang="it-IT" sz="2400" b="1" dirty="0">
                <a:solidFill>
                  <a:srgbClr val="EA7131"/>
                </a:solidFill>
              </a:rPr>
              <a:t>Diagrammi di Sequenza:</a:t>
            </a:r>
            <a:r>
              <a:rPr lang="it-IT" sz="2400" b="1" dirty="0"/>
              <a:t> </a:t>
            </a:r>
            <a:r>
              <a:rPr lang="it-IT" sz="2400" dirty="0"/>
              <a:t>per modellare il flusso asincrono dei dati (dal </a:t>
            </a:r>
            <a:r>
              <a:rPr lang="it-IT" sz="2400" i="1" dirty="0"/>
              <a:t>sensore</a:t>
            </a:r>
            <a:r>
              <a:rPr lang="it-IT" sz="2400" dirty="0"/>
              <a:t> alla </a:t>
            </a:r>
            <a:r>
              <a:rPr lang="it-IT" sz="2400" i="1" dirty="0"/>
              <a:t>coda messaggi</a:t>
            </a:r>
            <a:r>
              <a:rPr lang="it-IT" sz="2400" dirty="0"/>
              <a:t> fino al </a:t>
            </a:r>
            <a:r>
              <a:rPr lang="it-IT" sz="2400" i="1" dirty="0"/>
              <a:t>motore di analisi</a:t>
            </a:r>
            <a:r>
              <a:rPr lang="it-IT" sz="2400" dirty="0"/>
              <a:t>), validando la gestione dei "burst" di dati.</a:t>
            </a:r>
          </a:p>
          <a:p>
            <a:r>
              <a:rPr lang="it-IT" sz="2400" b="1" dirty="0">
                <a:solidFill>
                  <a:srgbClr val="EA7131"/>
                </a:solidFill>
              </a:rPr>
              <a:t>Diagrammi di Stato: </a:t>
            </a:r>
            <a:r>
              <a:rPr lang="it-IT" sz="2400" dirty="0"/>
              <a:t>per progettare il ciclo di vita dello "Smart </a:t>
            </a:r>
            <a:r>
              <a:rPr lang="it-IT" sz="2400" dirty="0" err="1"/>
              <a:t>Alerting</a:t>
            </a:r>
            <a:r>
              <a:rPr lang="it-IT" sz="2400" dirty="0"/>
              <a:t>" (es. </a:t>
            </a:r>
            <a:r>
              <a:rPr lang="it-IT" sz="2400" i="1" dirty="0"/>
              <a:t>Normale</a:t>
            </a:r>
            <a:r>
              <a:rPr lang="it-IT" sz="2400" dirty="0"/>
              <a:t> → </a:t>
            </a:r>
            <a:r>
              <a:rPr lang="it-IT" sz="2400" i="1" dirty="0"/>
              <a:t>Warning</a:t>
            </a:r>
            <a:r>
              <a:rPr lang="it-IT" sz="2400" dirty="0"/>
              <a:t> → </a:t>
            </a:r>
            <a:r>
              <a:rPr lang="it-IT" sz="2400" i="1" dirty="0"/>
              <a:t>Allarme</a:t>
            </a:r>
            <a:r>
              <a:rPr lang="it-IT" sz="2400" dirty="0"/>
              <a:t> → </a:t>
            </a:r>
            <a:r>
              <a:rPr lang="it-IT" sz="2400" i="1" dirty="0"/>
              <a:t>Silenziato</a:t>
            </a:r>
            <a:r>
              <a:rPr lang="it-IT" sz="2400" dirty="0"/>
              <a:t>), garantendo che la logica non sia ambigua.</a:t>
            </a:r>
          </a:p>
          <a:p>
            <a:pPr marL="0" indent="0">
              <a:buNone/>
            </a:pPr>
            <a:r>
              <a:rPr lang="it-IT" sz="2400" dirty="0"/>
              <a:t>L’obbiettivo è quello di validare l'architettura nella fase di Elaborazione per ridurre i rischi tecnici, senza avere un sovraccarico di documentazione.</a:t>
            </a:r>
          </a:p>
        </p:txBody>
      </p:sp>
    </p:spTree>
    <p:extLst>
      <p:ext uri="{BB962C8B-B14F-4D97-AF65-F5344CB8AC3E}">
        <p14:creationId xmlns:p14="http://schemas.microsoft.com/office/powerpoint/2010/main" val="266532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CED16E-F3A0-9D18-E7B6-88581EC9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AUP: La parte di </a:t>
            </a:r>
            <a:r>
              <a:rPr lang="it-IT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eXtreme</a:t>
            </a:r>
            <a:r>
              <a:rPr lang="it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Programming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57572C-981E-2528-4A1A-2E1707849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Per soddisfare i requisiti di stabilità, l’AUP adotta alcune metodologie agili dell’XP:</a:t>
            </a:r>
          </a:p>
          <a:p>
            <a:r>
              <a:rPr lang="it-IT" sz="2400" b="1" dirty="0">
                <a:solidFill>
                  <a:srgbClr val="EA7131"/>
                </a:solidFill>
              </a:rPr>
              <a:t>Test </a:t>
            </a:r>
            <a:r>
              <a:rPr lang="it-IT" sz="2400" b="1" dirty="0" err="1">
                <a:solidFill>
                  <a:srgbClr val="EA7131"/>
                </a:solidFill>
              </a:rPr>
              <a:t>Driven</a:t>
            </a:r>
            <a:r>
              <a:rPr lang="it-IT" sz="2400" b="1" dirty="0">
                <a:solidFill>
                  <a:srgbClr val="EA7131"/>
                </a:solidFill>
              </a:rPr>
              <a:t> Development (TDD): </a:t>
            </a:r>
            <a:r>
              <a:rPr lang="it-IT" sz="2400" dirty="0"/>
              <a:t>Scrivere i test prima del codice è cruciale per il motore di regole. Ogni nuova regola (es. soglia pressione) deve essere verificata automaticamente per non rompere le precedenti</a:t>
            </a:r>
          </a:p>
          <a:p>
            <a:r>
              <a:rPr lang="it-IT" sz="2400" b="1" dirty="0" err="1">
                <a:solidFill>
                  <a:srgbClr val="EA7131"/>
                </a:solidFill>
              </a:rPr>
              <a:t>Refactoring</a:t>
            </a:r>
            <a:r>
              <a:rPr lang="it-IT" sz="2400" b="1" dirty="0">
                <a:solidFill>
                  <a:srgbClr val="EA7131"/>
                </a:solidFill>
              </a:rPr>
              <a:t> Continuo:</a:t>
            </a:r>
            <a:r>
              <a:rPr lang="it-IT" sz="2400" b="1" dirty="0"/>
              <a:t> </a:t>
            </a:r>
            <a:r>
              <a:rPr lang="it-IT" sz="2400" dirty="0"/>
              <a:t>essenziale per mantenere il codice pulito mentre si implementa la "Riconfigurabilità a Caldo", evitando che il sistema diventi rigido.</a:t>
            </a:r>
          </a:p>
          <a:p>
            <a:r>
              <a:rPr lang="it-IT" sz="2400" b="1" dirty="0">
                <a:solidFill>
                  <a:srgbClr val="EA7131"/>
                </a:solidFill>
              </a:rPr>
              <a:t>Integrazione Continua: </a:t>
            </a:r>
            <a:r>
              <a:rPr lang="it-IT" sz="2400" dirty="0"/>
              <a:t>Per verificare che l'aggiunta di nuovi driver per sensori non degradi le prestazioni generali.</a:t>
            </a:r>
            <a:endParaRPr lang="it-IT" sz="2400" b="1" dirty="0">
              <a:solidFill>
                <a:srgbClr val="EA7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29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CF86C6-ABDD-9092-50AB-617B26A3D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Organizzazione Temporale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ECF7CC-4E6D-0A28-4DCE-D79D61E48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it-IT" dirty="0"/>
              <a:t>Ecco come strutturare il progetto per mitigare il rischio:</a:t>
            </a:r>
          </a:p>
          <a:p>
            <a:pPr lvl="1"/>
            <a:r>
              <a:rPr lang="it-IT" b="1" dirty="0">
                <a:solidFill>
                  <a:srgbClr val="EA7131"/>
                </a:solidFill>
              </a:rPr>
              <a:t>Ideazione:</a:t>
            </a:r>
            <a:r>
              <a:rPr lang="it-IT" dirty="0"/>
              <a:t> Definizione dei rischi principali e analisi tecnologica preliminare.</a:t>
            </a:r>
            <a:endParaRPr lang="it-IT" b="1" dirty="0"/>
          </a:p>
          <a:p>
            <a:pPr lvl="1"/>
            <a:r>
              <a:rPr lang="it-IT" b="1" dirty="0">
                <a:solidFill>
                  <a:srgbClr val="EA7131"/>
                </a:solidFill>
              </a:rPr>
              <a:t>Elaborazione:</a:t>
            </a:r>
            <a:r>
              <a:rPr lang="it-IT" dirty="0"/>
              <a:t> Creazione dello scheletro architetturale. Si implementa il prototipo del canale di comunicazione asincrono per dimostrare la "Robustezza al Carico"</a:t>
            </a:r>
            <a:endParaRPr lang="it-IT" b="1" dirty="0"/>
          </a:p>
          <a:p>
            <a:pPr lvl="1"/>
            <a:r>
              <a:rPr lang="it-IT" b="1" dirty="0">
                <a:solidFill>
                  <a:srgbClr val="EA7131"/>
                </a:solidFill>
              </a:rPr>
              <a:t>Costruzione:</a:t>
            </a:r>
            <a:r>
              <a:rPr lang="it-IT" dirty="0"/>
              <a:t> Sviluppo iterativo delle funzionalità (GUI, logiche di allarme specifiche, gestione utenti)</a:t>
            </a:r>
            <a:endParaRPr lang="it-IT" b="1" dirty="0"/>
          </a:p>
          <a:p>
            <a:pPr lvl="1"/>
            <a:r>
              <a:rPr lang="it-IT" b="1" dirty="0">
                <a:solidFill>
                  <a:srgbClr val="EA7131"/>
                </a:solidFill>
              </a:rPr>
              <a:t>Transizione:</a:t>
            </a:r>
            <a:r>
              <a:rPr lang="it-IT" dirty="0"/>
              <a:t> Deployment e tuning finale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3485939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8F9B45-1499-033E-CA3C-CE0D116D1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Iterazioni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0C9AF3-C558-C4F2-0147-23C3F9FFB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Il progetto è diviso in iterazioni ("mini-progetti") di lunghezza fissa, in modo da avere un feedback continuo e basato su micro-fasi più semplici da gestire singolarmente, rispetto ad un approccio monolitico.</a:t>
            </a:r>
          </a:p>
          <a:p>
            <a:r>
              <a:rPr lang="it-IT" sz="2400" b="1" dirty="0">
                <a:solidFill>
                  <a:srgbClr val="EA7131"/>
                </a:solidFill>
              </a:rPr>
              <a:t>Feedback continuo</a:t>
            </a:r>
          </a:p>
          <a:p>
            <a:r>
              <a:rPr lang="it-IT" sz="2400" b="1" dirty="0">
                <a:solidFill>
                  <a:srgbClr val="EA7131"/>
                </a:solidFill>
              </a:rPr>
              <a:t>Maggiore organizzazione:</a:t>
            </a:r>
            <a:r>
              <a:rPr lang="it-IT" sz="2400" dirty="0"/>
              <a:t> nell’iterazione successiva vengono gestiti i problemi emersi nella precedente ed assegnate varie priorità.</a:t>
            </a:r>
          </a:p>
          <a:p>
            <a:pPr marL="0" indent="0">
              <a:buNone/>
            </a:pPr>
            <a:r>
              <a:rPr lang="it-IT" sz="2400" dirty="0"/>
              <a:t>Tutto questo consente di evitare il caos fornendo una struttura solida all’applicazione, garantendo </a:t>
            </a:r>
            <a:r>
              <a:rPr lang="it-IT" sz="2400" b="1" dirty="0"/>
              <a:t>qualità</a:t>
            </a:r>
            <a:r>
              <a:rPr lang="it-IT" sz="2400" dirty="0"/>
              <a:t> e </a:t>
            </a:r>
            <a:r>
              <a:rPr lang="it-IT" sz="2400" b="1" dirty="0"/>
              <a:t>flessibilità</a:t>
            </a:r>
            <a:r>
              <a:rPr lang="it-IT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9999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1771</TotalTime>
  <Words>582</Words>
  <Application>Microsoft Macintosh PowerPoint</Application>
  <PresentationFormat>Widescreen</PresentationFormat>
  <Paragraphs>37</Paragraphs>
  <Slides>8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di Office</vt:lpstr>
      <vt:lpstr>IoT Sentinel</vt:lpstr>
      <vt:lpstr>La sfida progettuale</vt:lpstr>
      <vt:lpstr>Complessità Tecnica e Rischi</vt:lpstr>
      <vt:lpstr>Agile Unified Process: AUP</vt:lpstr>
      <vt:lpstr>AUP: Modellazione UML</vt:lpstr>
      <vt:lpstr>AUP: La parte di eXtreme Programming</vt:lpstr>
      <vt:lpstr>Organizzazione Temporale</vt:lpstr>
      <vt:lpstr>Iterazioni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Accetta Andrea (Guest)</dc:creator>
  <cp:lastModifiedBy>Accetta Andrea (Guest)</cp:lastModifiedBy>
  <cp:revision>3</cp:revision>
  <dcterms:created xsi:type="dcterms:W3CDTF">2026-02-15T16:23:29Z</dcterms:created>
  <dcterms:modified xsi:type="dcterms:W3CDTF">2026-02-25T22:49:12Z</dcterms:modified>
</cp:coreProperties>
</file>